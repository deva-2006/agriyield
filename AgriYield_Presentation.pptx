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31520"/>
            <a:ext cx="10545775" cy="109728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5F46"/>
                </a:solidFill>
              </a:defRPr>
            </a:pPr>
            <a:r>
              <a:t>AgriYield: Data Science-Based Crop Yield</a:t>
            </a:r>
            <a:br/>
            <a:r>
              <a:t>Analysis and Prediction</a:t>
            </a:r>
          </a:p>
          <a:p>
            <a:pPr>
              <a:spcBef>
                <a:spcPts val="600"/>
              </a:spcBef>
              <a:defRPr sz="1600">
                <a:solidFill>
                  <a:srgbClr val="334155"/>
                </a:solidFill>
              </a:defRPr>
            </a:pPr>
            <a:r>
              <a:t>Academic Project Review  •  Machine Learning &amp; Web Dashboard 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017520"/>
            <a:ext cx="5486400" cy="3291840"/>
          </a:xfrm>
          <a:prstGeom prst="roundRect">
            <a:avLst/>
          </a:prstGeom>
          <a:solidFill>
            <a:srgbClr val="F0FDF4"/>
          </a:solidFill>
          <a:ln w="317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246120"/>
            <a:ext cx="4937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PROJECT PRESENTED BY</a:t>
            </a:r>
          </a:p>
          <a:p>
            <a:pPr>
              <a:spcBef>
                <a:spcPts val="800"/>
              </a:spcBef>
              <a:defRPr sz="3400" b="1">
                <a:solidFill>
                  <a:srgbClr val="0F172A"/>
                </a:solidFill>
              </a:defRPr>
            </a:pPr>
            <a:r>
              <a:t>S. SANDHIYA</a:t>
            </a:r>
          </a:p>
          <a:p>
            <a:pPr>
              <a:spcBef>
                <a:spcPts val="800"/>
              </a:spcBef>
              <a:defRPr sz="2000" b="1">
                <a:solidFill>
                  <a:srgbClr val="0284C7"/>
                </a:solidFill>
              </a:defRPr>
            </a:pPr>
            <a:r>
              <a:t>ROLL NO : 24VNM034</a:t>
            </a:r>
          </a:p>
          <a:p>
            <a:pPr>
              <a:spcBef>
                <a:spcPts val="800"/>
              </a:spcBef>
              <a:defRPr sz="1400">
                <a:solidFill>
                  <a:srgbClr val="334155"/>
                </a:solidFill>
              </a:defRPr>
            </a:pPr>
            <a:r>
              <a:t>Department of Computer Science &amp;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3017520"/>
            <a:ext cx="4754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3246120"/>
            <a:ext cx="4206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PROJECT HIGHLIGHTS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•  Dataset Scope: 19,689 Records (1997–2020)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•  Coverage: 55 Crops across 30 Indian States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•  Champion Model: Random Forest Regressor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•  Holdout Accuracy: 96.8% (R² Score)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•  Zero Data Leakage: Genuine Pre-Harvest 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59669"/>
                </a:solidFill>
              </a:defRPr>
            </a:pPr>
            <a:r>
              <a:t>AGRIYIELD  •  SLIDE 2 OF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Synopsis of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6002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PROJECT ABSTRACT</a:t>
            </a:r>
          </a:p>
          <a:p>
            <a:pPr>
              <a:spcBef>
                <a:spcPts val="1400"/>
              </a:spcBef>
              <a:defRPr sz="1400">
                <a:solidFill>
                  <a:srgbClr val="0F172A"/>
                </a:solidFill>
              </a:defRPr>
            </a:pPr>
            <a:r>
              <a:t>AgriYield is a machine learning data science system designed to accurately forecast crop yield prior to harvest. Using 24 years of longitudinal agricultural census records across India, the system captures non-linear relationships between crop species, soil-climate factors, and agricultural inputs to produce reliable harvest estimates.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002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</a:defRPr>
            </a:pPr>
            <a:r>
              <a:t>PROBLEM STATEMENT</a:t>
            </a:r>
          </a:p>
          <a:p>
            <a:pPr>
              <a:spcBef>
                <a:spcPts val="1400"/>
              </a:spcBef>
              <a:defRPr sz="1400">
                <a:solidFill>
                  <a:srgbClr val="0F172A"/>
                </a:solidFill>
              </a:defRPr>
            </a:pPr>
            <a:r>
              <a:t>Traditional agricultural yield estimation relies on manual crop-cutting experiments conducted after harvest. This results in delayed reporting, preventing timely food security interventions, logistics coordination, and market price stabilization.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37160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16002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7C3AED"/>
                </a:solidFill>
              </a:defRPr>
            </a:pPr>
            <a:r>
              <a:t>OBJECTIVES &amp; SCOPE</a:t>
            </a:r>
          </a:p>
          <a:p>
            <a:pPr>
              <a:spcBef>
                <a:spcPts val="1400"/>
              </a:spcBef>
              <a:defRPr sz="1400">
                <a:solidFill>
                  <a:srgbClr val="0F172A"/>
                </a:solidFill>
              </a:defRPr>
            </a:pPr>
            <a:r>
              <a:t>• Predict crop yield (Tonnes/Ha) months before harvest using pre-sowing factors.</a:t>
            </a:r>
            <a:br/>
            <a:r>
              <a:t>• Prevent target data leakage by strictly excluding post-harvest production.</a:t>
            </a:r>
            <a:br/>
            <a:r>
              <a:t>• Deploy a farmer-friendly web dashboard providing acre yields and truckload counts.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59669"/>
                </a:solidFill>
              </a:defRPr>
            </a:pPr>
            <a:r>
              <a:t>AGRIYIELD  •  SLIDE 3 OF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Module Description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054577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0"/>
            <a:ext cx="10149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Module 1: Data Ingestion &amp; Audit</a:t>
            </a:r>
          </a:p>
          <a:p>
            <a:pPr>
              <a:spcBef>
                <a:spcPts val="300"/>
              </a:spcBef>
              <a:defRPr sz="1250">
                <a:solidFill>
                  <a:srgbClr val="0F172A"/>
                </a:solidFill>
              </a:defRPr>
            </a:pPr>
            <a:r>
              <a:t>Loads 19,689 census records from Ministry of Agriculture &amp; IMD. Validates schema, strips categorical whitespaces, handles zero yields, and isolates Coconut unit scales.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59152"/>
            <a:ext cx="1054577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50592"/>
            <a:ext cx="10149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</a:defRPr>
            </a:pPr>
            <a:r>
              <a:t>Module 2: Feature Engineering &amp; Leakage Defense</a:t>
            </a:r>
          </a:p>
          <a:p>
            <a:pPr>
              <a:spcBef>
                <a:spcPts val="300"/>
              </a:spcBef>
              <a:defRPr sz="1250">
                <a:solidFill>
                  <a:srgbClr val="0F172A"/>
                </a:solidFill>
              </a:defRPr>
            </a:pPr>
            <a:r>
              <a:t>Calculates Fertilizer/Area and Pesticide/Area rates. Strictly eliminates 'Production' to prevent mathematical leakage. Applies robust log-transforms.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346704"/>
            <a:ext cx="1054577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38144"/>
            <a:ext cx="10149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C3AED"/>
                </a:solidFill>
              </a:defRPr>
            </a:pPr>
            <a:r>
              <a:t>Module 3: Model Training &amp; Evaluation</a:t>
            </a:r>
          </a:p>
          <a:p>
            <a:pPr>
              <a:spcBef>
                <a:spcPts val="300"/>
              </a:spcBef>
              <a:defRPr sz="1250">
                <a:solidFill>
                  <a:srgbClr val="0F172A"/>
                </a:solidFill>
              </a:defRPr>
            </a:pPr>
            <a:r>
              <a:t>Executes temporal train/test split (1997–2015 train vs 2016–2020 test). Benchmarks Ridge, Decision Tree, Gradient Boosting, and Random Forest.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34256"/>
            <a:ext cx="1054577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25696"/>
            <a:ext cx="10149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Module 4: Prediction &amp; Agronomic Inference</a:t>
            </a:r>
          </a:p>
          <a:p>
            <a:pPr>
              <a:spcBef>
                <a:spcPts val="300"/>
              </a:spcBef>
              <a:defRPr sz="1250">
                <a:solidFill>
                  <a:srgbClr val="0F172A"/>
                </a:solidFill>
              </a:defRPr>
            </a:pPr>
            <a:r>
              <a:t>Accepts user inputs, passes through the serialized pipeline, and outputs predicted yield, 90% confidence weather intervals, and regional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321808"/>
            <a:ext cx="10545775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413248"/>
            <a:ext cx="10149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D9488"/>
                </a:solidFill>
              </a:defRPr>
            </a:pPr>
            <a:r>
              <a:t>Module 5: Executive Web Dashboard</a:t>
            </a:r>
          </a:p>
          <a:p>
            <a:pPr>
              <a:spcBef>
                <a:spcPts val="300"/>
              </a:spcBef>
              <a:defRPr sz="1250">
                <a:solidFill>
                  <a:srgbClr val="0F172A"/>
                </a:solidFill>
              </a:defRPr>
            </a:pPr>
            <a:r>
              <a:t>Streamlit presentation layer with quick scenarios, dynamic metric cards, Plotly comparison charts, and plain-language harvest summaries.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59669"/>
                </a:solidFill>
              </a:defRPr>
            </a:pPr>
            <a:r>
              <a:t>AGRIYIELD  •  SLIDE 4 OF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Data Flow Diagram (DFD) — Level 1 Architecture</a:t>
            </a:r>
          </a:p>
        </p:txBody>
      </p:sp>
      <p:pic>
        <p:nvPicPr>
          <p:cNvPr id="4" name="Picture 3" descr="df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7132320" cy="389035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371600"/>
            <a:ext cx="3139135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1600200"/>
            <a:ext cx="2743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DFD FLOW SUMMARY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User / Officer: Enters crop, state, season, area, and inputs.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Process 1.0: Validates domain bounds and ensures non-negativity.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Process 2.0: Computes application rates and scales features.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Process 3.0: Random Forest queries model weights (D2) and predicts.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Process 4.0: Translates raw yield into acre and truckload units.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Stores D1 &amp; D2: Census database and pre-trained model artifacts.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59669"/>
                </a:solidFill>
              </a:defRPr>
            </a:pPr>
            <a:r>
              <a:t>AGRIYIELD  •  SLIDE 5 OF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Entity-Relationship Diagram (ERD)</a:t>
            </a:r>
          </a:p>
        </p:txBody>
      </p:sp>
      <p:pic>
        <p:nvPicPr>
          <p:cNvPr id="4" name="Picture 3" descr="er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7132320" cy="389035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371600"/>
            <a:ext cx="3139135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1600200"/>
            <a:ext cx="2743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</a:defRPr>
            </a:pPr>
            <a:r>
              <a:t>ERD ENTITIES &amp; SCHEMA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STATE Entity: Contains State_ID (PK), Name, and historical average yield.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CROP Entity: Contains Crop_ID (PK), species name, category, and scale.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SEASON Entity: Defines cropping calendar (Kharif, Rabi, Whole Year).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CULTIVATION_RECORD: Central entity storing area, rainfall, fertilizer, and pesticide.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YIELD_PREDICTION: Output entity storing point predictions, acre rates, and truckloads.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• Cardinality: 1:M relations connect master entities to cultivation events.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59669"/>
                </a:solidFill>
              </a:defRPr>
            </a:pPr>
            <a:r>
              <a:t>AGRIYIELD  •  SLIDE 6 OF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Table Design &amp; Relational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65F46"/>
                </a:solidFill>
              </a:defRPr>
            </a:pPr>
            <a:r>
              <a:t>TABLE 1: CROP_CENSUS_RECORDS (Core Census Series — 19,689 Rows)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45920"/>
          <a:ext cx="10545775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011680"/>
                <a:gridCol w="1645920"/>
                <a:gridCol w="4327855"/>
              </a:tblGrid>
              <a:tr h="2895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Field Name</a:t>
                      </a:r>
                    </a:p>
                  </a:txBody>
                  <a:tcPr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Data Type</a:t>
                      </a:r>
                    </a:p>
                  </a:txBody>
                  <a:tcPr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Constraints</a:t>
                      </a:r>
                    </a:p>
                  </a:txBody>
                  <a:tcPr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65F46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Record_ID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INTEGER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PRIMARY 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Unique auto-increment identifier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Crop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VARCHAR(50)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Standardized crop species (e.g. Wheat, Rice, Sugarcane)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VARCHAR(50)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Indian state or union territory administrative region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Season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VARCHAR(30)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Cropping window (Kharif, Rabi, Summer, Whole Year)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Area / Rainfall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DOUBLE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CHECK (&gt;= 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Cultivated hectares (ha) and annual precipitation (mm)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35661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TABLE 2: YIELD_PREDICTIONS_LOG (Inference Output Schema)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931920"/>
          <a:ext cx="1054577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011680"/>
                <a:gridCol w="1645920"/>
                <a:gridCol w="4327855"/>
              </a:tblGrid>
              <a:tr h="29260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Field Name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Data Type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Constraints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Prediction_ID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INTEGER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PRIMARY 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Unique prediction transaction identifier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Predicted_Yield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DOUBLE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Predicted agricultural rate in Tonnes per Hectare (t/ha)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Yield_Per_Acre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DOUBLE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Acre equivalent conversion (Predicted_Yield / 2.471)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Total_Commercial_Tonnes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DOUBLE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Gross harvest weight for entire farm (Predicted_Yield * Area)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557784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5F46"/>
                </a:solidFill>
              </a:defRPr>
            </a:pPr>
            <a:r>
              <a:t>🛡️ Schema Integrity Note: 'Production' is explicitly omitted from training schemas to enforce zero data leakage.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59669"/>
                </a:solidFill>
              </a:defRPr>
            </a:pPr>
            <a:r>
              <a:t>AGRIYIELD  •  SLIDE 7 OF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Form Design (User Input Interface)</a:t>
            </a:r>
          </a:p>
        </p:txBody>
      </p:sp>
      <p:pic>
        <p:nvPicPr>
          <p:cNvPr id="4" name="Picture 3" descr="form_design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6583680" cy="231457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371600"/>
            <a:ext cx="3779215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1812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INPUT FORM SPECIFICATIONS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Quick Demonstration Presets: 1-Click buttons for Punjab Wheat, West Bengal Rice, and Maharashtra Sugarcane.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Crop &amp; State Dropdowns: Select from 55 authentic crops and 30 Indian states.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Cropping Season: Select from Kharif, Rabi, Summer, Autumn, Winter, or Whole Year.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Cultivated Area: Numeric input in Hectares (district or farm acreage).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Rainfall &amp; Inputs: Annual precipitation (mm), total fertilizer (kg), and pesticide (kg).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Action Trigger: Prominent green 'Calculate Predicted Yield' execution button.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59669"/>
                </a:solidFill>
              </a:defRPr>
            </a:pPr>
            <a:r>
              <a:t>AGRIYIELD  •  SLIDE 8 OF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Output Screen (Prediction Results)</a:t>
            </a:r>
          </a:p>
        </p:txBody>
      </p:sp>
      <p:pic>
        <p:nvPicPr>
          <p:cNvPr id="4" name="Picture 3" descr="output_screen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6583680" cy="214741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371600"/>
            <a:ext cx="3779215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18120" y="160020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</a:defRPr>
            </a:pPr>
            <a:r>
              <a:t>OUTPUT SCREEN COMPONENTS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Simple Summary Box: Provides a plain-language harvest summary stating total tonnes and acre equivalents.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Card 1 — Harvest Rate: Displays yield rate (e.g. 3.00 t/ha and 1.21 tonnes/acre) with state productivity tier badge.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Card 2 — Total Production: Displays gross farm tonnage (30,000 tonnes) and commercial 10-tonne truckload counts (3,000 trucks).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Card 3 — Weather Sensitivity: 90% confidence range (2.5 – 3.5 t/ha) accounting for dry vs. favorable monsoon seasons.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Benchmark Comparison: Interactive bar chart comparing farm prediction with state average and national average.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