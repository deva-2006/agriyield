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DATA SCIENCE PROJECT  •  MACHINE LEARNING &amp;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AgriYield: Data Science-Based Crop Yield</a:t>
            </a:r>
            <a:br/>
            <a:r>
              <a:t>Analysis and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AI-Driven Pre-Harvest Yield Forecasting Using 24 Years of Indian Agricultural Census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303520" cy="2103120"/>
          </a:xfrm>
          <a:prstGeom prst="roundRect">
            <a:avLst/>
          </a:prstGeom>
          <a:solidFill>
            <a:srgbClr val="1822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</a:defRPr>
            </a:pPr>
            <a:r>
              <a:t>S. SANDHIYA</a:t>
            </a:r>
          </a:p>
          <a:p>
            <a:pPr>
              <a:spcBef>
                <a:spcPts val="400"/>
              </a:spcBef>
              <a:defRPr sz="1400" b="1">
                <a:solidFill>
                  <a:srgbClr val="38BDF8"/>
                </a:solidFill>
              </a:defRPr>
            </a:pPr>
            <a:r>
              <a:t>ROLL NO : 24VNM034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5120640" cy="2103120"/>
          </a:xfrm>
          <a:prstGeom prst="roundRect">
            <a:avLst/>
          </a:prstGeom>
          <a:solidFill>
            <a:srgbClr val="1822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4114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KEY PROJECT HIGHLIGHTS: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</a:defRPr>
            </a:pPr>
            <a:r>
              <a:t>•  19,689 Real Census Records (1997–2020 longitudinal series)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</a:defRPr>
            </a:pPr>
            <a:r>
              <a:t>•  55 Crops &amp; 30 Indian States Nationwide Coverage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</a:defRPr>
            </a:pPr>
            <a:r>
              <a:t>•  Champion Model: Random Forest Regressor (96.8% Test R²)</a:t>
            </a:r>
          </a:p>
          <a:p>
            <a:pPr>
              <a:spcBef>
                <a:spcPts val="300"/>
              </a:spcBef>
              <a:defRPr sz="1100">
                <a:solidFill>
                  <a:srgbClr val="F1F5F9"/>
                </a:solidFill>
              </a:defRPr>
            </a:pPr>
            <a:r>
              <a:t>•  Zero Target Data Leakage (Strict Pre-Harvest Predictors)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AGRIYIELD — DATA SCIENCE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1. Research Motivation &amp; Core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⚠️ THE TRADITIONAL PROBLEM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Post-Harvest Delay: Yield is historically measured only after harvesting through manual Crop Cutting Experiments (CCEs).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Logistical Strain: By the time data is collected, critical food supply shortages and price inflation have already occurred.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No Early Warning: Policymakers and farmers lack advance warning to plan cold-storage, transport, or MSP procurement.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💡 THE AGRIYIELD SOLUTION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Pre-Harvest Prediction: Predict crop yield months before harvest using environmental and input factors available during sowing.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Multi-Factor Intelligence: Analyzes rainfall, fertilizer rate, pesticide rate, land area, geography, and crop species simultaneously.</a:t>
            </a:r>
          </a:p>
          <a:p>
            <a:pPr>
              <a:spcBef>
                <a:spcPts val="1200"/>
              </a:spcBef>
              <a:defRPr sz="1200">
                <a:solidFill>
                  <a:srgbClr val="F1F5F9"/>
                </a:solidFill>
              </a:defRPr>
            </a:pPr>
            <a:r>
              <a:t>• Practical Decision Making: Translates mathematical yield (t/ha) into acre yields and commercial truckload counts for everyday logistics.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AGRIYIELD — DATA SCIENCE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2. Dataset Scope &amp; Data Leakage Prevention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37160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CENSUS RECORDS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19,689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1997–2020 Longitudinal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137160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017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GEOGRAPHIC DIVERSITY</a:t>
            </a:r>
          </a:p>
          <a:p>
            <a:pPr>
              <a:defRPr sz="2000" b="1">
                <a:solidFill>
                  <a:srgbClr val="38BDF8"/>
                </a:solidFill>
              </a:defRPr>
            </a:pPr>
            <a:r>
              <a:t>55 Crops / 30 States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All Major Indian Agro-Zones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137160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017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TARGET LEAKAGE</a:t>
            </a:r>
          </a:p>
          <a:p>
            <a:pPr>
              <a:defRPr sz="2000" b="1">
                <a:solidFill>
                  <a:srgbClr val="A855F7"/>
                </a:solidFill>
              </a:defRPr>
            </a:pPr>
            <a:r>
              <a:t>0.00%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Production Strictly Omitted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10698480" cy="3108960"/>
          </a:xfrm>
          <a:prstGeom prst="roundRect">
            <a:avLst/>
          </a:prstGeom>
          <a:solidFill>
            <a:srgbClr val="18223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🛡️ CRITICAL METHODOLOGY: DATA LEAKAGE DEFENSE PROTOCOL</a:t>
            </a:r>
          </a:p>
          <a:p>
            <a:pPr>
              <a:spcBef>
                <a:spcPts val="800"/>
              </a:spcBef>
              <a:defRPr sz="1150">
                <a:solidFill>
                  <a:srgbClr val="F1F5F9"/>
                </a:solidFill>
              </a:defRPr>
            </a:pPr>
            <a:r>
              <a:t>• The Trivial Mathematical Trap: In agricultural statistics, Yield = Total Production / Cultivated Area. Many naive projects mistakenly include 'Production' as a feature, causing models to simply divide two columns rather than predicting yield.</a:t>
            </a:r>
          </a:p>
          <a:p>
            <a:pPr>
              <a:spcBef>
                <a:spcPts val="800"/>
              </a:spcBef>
              <a:defRPr sz="1150">
                <a:solidFill>
                  <a:srgbClr val="F1F5F9"/>
                </a:solidFill>
              </a:defRPr>
            </a:pPr>
            <a:r>
              <a:t>• Our Scientific Safeguard: Total Production is strictly excluded from all training and inference pipelines. Only genuine pre-harvest predictors (Crop, State, Season, Area, Rainfall, Fertilizer, Pesticide) are utilized.</a:t>
            </a:r>
          </a:p>
          <a:p>
            <a:pPr>
              <a:spcBef>
                <a:spcPts val="800"/>
              </a:spcBef>
              <a:defRPr sz="1150">
                <a:solidFill>
                  <a:srgbClr val="F1F5F9"/>
                </a:solidFill>
              </a:defRPr>
            </a:pPr>
            <a:r>
              <a:t>• Temporal Evaluation: To test true future predictive capability, data was split temporally: Train on past years (1997–2015, 15,404 records) and holdout test on future years (2016–2020, 4,285 records).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AGRIYIELD — DATA SCIENCE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3. Machine Learning Models &amp; Leaderboard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2103120"/>
                <a:gridCol w="2194560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R²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5-Fold CV R²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Holdout Test R²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MAE (t/ha)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Linear Regression (Ridge)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58.1%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57.8%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59.6%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34.12 t/ha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92.4%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18.45 t/ha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Gradient Boosting Regressor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94.8%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93.1%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15.30 t/ha</a:t>
                      </a:r>
                    </a:p>
                  </a:txBody>
                  <a:tcPr>
                    <a:solidFill>
                      <a:srgbClr val="1822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Random Forest Regressor 🏆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99.7%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95.9%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96.8%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10.95 t/ha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114800"/>
            <a:ext cx="10698480" cy="2194560"/>
          </a:xfrm>
          <a:prstGeom prst="roundRect">
            <a:avLst/>
          </a:prstGeom>
          <a:solidFill>
            <a:srgbClr val="18223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🏆 WHY RANDOM FOREST WAS SELECTED AS THE CHAMPION MODEL: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</a:defRPr>
            </a:pPr>
            <a:r>
              <a:t>• Non-Linear Biological Thresholds: Linear Regression underfits (59.6% R²) because crop yield does not increase indefinitely with fertilizer or rain. Real crops have saturating biological thresholds.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</a:defRPr>
            </a:pPr>
            <a:r>
              <a:t>• Log-Transformation Synergy: Random Forest was trained under a target log-transform (ln(1+y)), guaranteeing positive yield outputs and dramatically reducing errors on high-yield cash crops.</a:t>
            </a:r>
          </a:p>
          <a:p>
            <a:pPr>
              <a:spcBef>
                <a:spcPts val="500"/>
              </a:spcBef>
              <a:defRPr sz="1100">
                <a:solidFill>
                  <a:srgbClr val="F1F5F9"/>
                </a:solidFill>
              </a:defRPr>
            </a:pPr>
            <a:r>
              <a:t>• Generalization Power: Achieved lowest test error (MAE: 10.95 t/ha) across 4,285 unseen future records from 2016 to 2020.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AGRIYIELD — DATA SCIENCE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4. Key Empirical Agricultural Discoveries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1. CROP GENETICS SET THE CEILING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Feature Importance: 71.8%</a:t>
            </a:r>
          </a:p>
          <a:p>
            <a:pPr>
              <a:spcBef>
                <a:spcPts val="1200"/>
              </a:spcBef>
              <a:defRPr sz="1100">
                <a:solidFill>
                  <a:srgbClr val="F1F5F9"/>
                </a:solidFill>
              </a:defRPr>
            </a:pPr>
            <a:r>
              <a:t>Crop species alone accounts for ~72% of all predictive power. Heavy cash crops (Sugarcane ~52 t/ha, Potato ~13 t/ha) naturally produce vastly higher physical tonnage than cereal grains (Wheat/Rice 2–4 t/ha) or pulses (~0.8 t/ha).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SIMPSON'S PARADOX IN FERTILIZER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Non-Intuitive Agronomic Insight</a:t>
            </a:r>
          </a:p>
          <a:p>
            <a:pPr>
              <a:spcBef>
                <a:spcPts val="1200"/>
              </a:spcBef>
              <a:defRPr sz="1100">
                <a:solidFill>
                  <a:srgbClr val="F1F5F9"/>
                </a:solidFill>
              </a:defRPr>
            </a:pPr>
            <a:r>
              <a:t>Fertilizer correlates positively (+0.17) with yield for heavy feeder crops (Sugarcane), but shows near-zero or negative correlation in pulses (Moong/Gram). Legumes biologically fix nitrogen; excess chemical fertilizer suppresses nodulation and hurts yield.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18223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3. DIMINISHING RAINFALL RETURNS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Climate Threshold Sensitivity</a:t>
            </a:r>
          </a:p>
          <a:p>
            <a:pPr>
              <a:spcBef>
                <a:spcPts val="1200"/>
              </a:spcBef>
              <a:defRPr sz="1100">
                <a:solidFill>
                  <a:srgbClr val="F1F5F9"/>
                </a:solidFill>
              </a:defRPr>
            </a:pPr>
            <a:r>
              <a:t>Precipitation strongly boosts yield up to ~2,000 mm/year. Beyond 2,000 mm, excess water triggers waterlogging, root aeration failure, and fungal spread, placing a natural ceiling on agricultural productivity.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AGRIYIELD — DATA SCIENCE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5. Implementation Architecture &amp; Live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8223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💻 TECHNICAL ARCHITECTURE</a:t>
            </a:r>
          </a:p>
          <a:p>
            <a:pPr>
              <a:spcBef>
                <a:spcPts val="700"/>
              </a:spcBef>
              <a:defRPr sz="1100">
                <a:solidFill>
                  <a:srgbClr val="F1F5F9"/>
                </a:solidFill>
              </a:defRPr>
            </a:pPr>
            <a:r>
              <a:t>• Python 3.10 / 3.12: Core programming language for data engineering, modeling, and dashboard.</a:t>
            </a:r>
          </a:p>
          <a:p>
            <a:pPr>
              <a:spcBef>
                <a:spcPts val="700"/>
              </a:spcBef>
              <a:defRPr sz="1100">
                <a:solidFill>
                  <a:srgbClr val="F1F5F9"/>
                </a:solidFill>
              </a:defRPr>
            </a:pPr>
            <a:r>
              <a:t>• Scikit-Learn Pipeline: Encapsulates One-Hot Encoding, RobustScaler, and Random Forest for instant real-time inference.</a:t>
            </a:r>
          </a:p>
          <a:p>
            <a:pPr>
              <a:spcBef>
                <a:spcPts val="700"/>
              </a:spcBef>
              <a:defRPr sz="1100">
                <a:solidFill>
                  <a:srgbClr val="F1F5F9"/>
                </a:solidFill>
              </a:defRPr>
            </a:pPr>
            <a:r>
              <a:t>• Streamlit UI Layer: Interactive web app allowing users to test farm scenarios and receive immediate predictions.</a:t>
            </a:r>
          </a:p>
          <a:p>
            <a:pPr>
              <a:spcBef>
                <a:spcPts val="700"/>
              </a:spcBef>
              <a:defRPr sz="1100">
                <a:solidFill>
                  <a:srgbClr val="F1F5F9"/>
                </a:solidFill>
              </a:defRPr>
            </a:pPr>
            <a:r>
              <a:t>• Plotly Express: Dynamic interactive charts displaying comparative benchmarks and historical trends.</a:t>
            </a:r>
          </a:p>
          <a:p>
            <a:pPr>
              <a:spcBef>
                <a:spcPts val="700"/>
              </a:spcBef>
              <a:defRPr sz="1100">
                <a:solidFill>
                  <a:srgbClr val="F1F5F9"/>
                </a:solidFill>
              </a:defRPr>
            </a:pPr>
            <a:r>
              <a:t>• Streamlit Cloud: Automated CI/CD deployment directly from GitHub, ensuring 24/7 global accessibility.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82234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🌾 USER-FRIENDLY DASHBOARD FEATURES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1-Click Presets: Punjab Wheat (Rabi), West Bengal Rice (Kharif), and Maharashtra Sugarcane for rapid demonstration.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Understandable Units: Translates mathematical Tonnes/Hectare into Tonnes/Acre and standard 10-Tonne Truckload counts.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Benchmark Comparison: Compares predicted harvest against actual state and nationwide government averages.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Dark/Light Mode: 100% theme-adaptive UI designed with high-contrast executive visual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