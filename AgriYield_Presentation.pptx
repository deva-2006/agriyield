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0362895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🌾 AgriYield: Crop Yield Prediction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Data Science-Based Agricultural Analysis and Pre-Harvest Forecasting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91840"/>
            <a:ext cx="5486400" cy="2377440"/>
          </a:xfrm>
          <a:prstGeom prst="roundRect">
            <a:avLst/>
          </a:prstGeom>
          <a:solidFill>
            <a:srgbClr val="182234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566160"/>
            <a:ext cx="49377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PRESENTED BY</a:t>
            </a:r>
          </a:p>
          <a:p>
            <a:pPr>
              <a:spcBef>
                <a:spcPts val="600"/>
              </a:spcBef>
              <a:defRPr sz="2600" b="1">
                <a:solidFill>
                  <a:srgbClr val="FFFFFF"/>
                </a:solidFill>
              </a:defRPr>
            </a:pPr>
            <a:r>
              <a:t>S. SANDHIYA</a:t>
            </a:r>
          </a:p>
          <a:p>
            <a:pPr>
              <a:spcBef>
                <a:spcPts val="600"/>
              </a:spcBef>
              <a:defRPr sz="1600" b="1">
                <a:solidFill>
                  <a:srgbClr val="38BDF8"/>
                </a:solidFill>
              </a:defRPr>
            </a:pPr>
            <a:r>
              <a:t>ROLL NO : 24VNM034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3291840"/>
            <a:ext cx="4572000" cy="2377440"/>
          </a:xfrm>
          <a:prstGeom prst="roundRect">
            <a:avLst/>
          </a:prstGeom>
          <a:solidFill>
            <a:srgbClr val="18223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3566160"/>
            <a:ext cx="40233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PROJECT QUICK FACTS</a:t>
            </a:r>
          </a:p>
          <a:p>
            <a:pPr>
              <a:spcBef>
                <a:spcPts val="500"/>
              </a:spcBef>
              <a:defRPr sz="1200">
                <a:solidFill>
                  <a:srgbClr val="F1F5F9"/>
                </a:solidFill>
              </a:defRPr>
            </a:pPr>
            <a:r>
              <a:t>✔  19,689 Real Census Records (1997–2020)</a:t>
            </a:r>
          </a:p>
          <a:p>
            <a:pPr>
              <a:spcBef>
                <a:spcPts val="500"/>
              </a:spcBef>
              <a:defRPr sz="1200">
                <a:solidFill>
                  <a:srgbClr val="F1F5F9"/>
                </a:solidFill>
              </a:defRPr>
            </a:pPr>
            <a:r>
              <a:t>✔  55 Crops &amp; 30 Indian States</a:t>
            </a:r>
          </a:p>
          <a:p>
            <a:pPr>
              <a:spcBef>
                <a:spcPts val="500"/>
              </a:spcBef>
              <a:defRPr sz="1200">
                <a:solidFill>
                  <a:srgbClr val="F1F5F9"/>
                </a:solidFill>
              </a:defRPr>
            </a:pPr>
            <a:r>
              <a:t>✔  Champion Model: Random Forest</a:t>
            </a:r>
          </a:p>
          <a:p>
            <a:pPr>
              <a:spcBef>
                <a:spcPts val="500"/>
              </a:spcBef>
              <a:defRPr sz="1200">
                <a:solidFill>
                  <a:srgbClr val="F1F5F9"/>
                </a:solidFill>
              </a:defRPr>
            </a:pPr>
            <a:r>
              <a:t>✔  Prediction Accuracy: 96.8% (R² Score)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AGRIYIELD  •  SLIDE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Real-World Problem &amp; Our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4389120"/>
          </a:xfrm>
          <a:prstGeom prst="roundRect">
            <a:avLst/>
          </a:prstGeom>
          <a:solidFill>
            <a:srgbClr val="18223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⚠️ THE PROBLEM TODAY</a:t>
            </a:r>
          </a:p>
          <a:p>
            <a:pPr>
              <a:spcBef>
                <a:spcPts val="1400"/>
              </a:spcBef>
              <a:defRPr sz="1300">
                <a:solidFill>
                  <a:srgbClr val="F1F5F9"/>
                </a:solidFill>
              </a:defRPr>
            </a:pPr>
            <a:r>
              <a:t>•  Manual Crop-Cutting: Yield is only measured after harvest by manually cutting field samples.</a:t>
            </a:r>
          </a:p>
          <a:p>
            <a:pPr>
              <a:spcBef>
                <a:spcPts val="1400"/>
              </a:spcBef>
              <a:defRPr sz="1300">
                <a:solidFill>
                  <a:srgbClr val="F1F5F9"/>
                </a:solidFill>
              </a:defRPr>
            </a:pPr>
            <a:r>
              <a:t>•  Too Late for Action: When food shortages occur, prices have already spiked.</a:t>
            </a:r>
          </a:p>
          <a:p>
            <a:pPr>
              <a:spcBef>
                <a:spcPts val="1400"/>
              </a:spcBef>
              <a:defRPr sz="1300">
                <a:solidFill>
                  <a:srgbClr val="F1F5F9"/>
                </a:solidFill>
              </a:defRPr>
            </a:pPr>
            <a:r>
              <a:t>•  No Advance Planning: Farmers cannot plan storage, trucks, or sales in advance.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4937760" cy="4389120"/>
          </a:xfrm>
          <a:prstGeom prst="roundRect">
            <a:avLst/>
          </a:prstGeom>
          <a:solidFill>
            <a:srgbClr val="18223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💡 THE AGRIYIELD SOLUTION</a:t>
            </a:r>
          </a:p>
          <a:p>
            <a:pPr>
              <a:spcBef>
                <a:spcPts val="1400"/>
              </a:spcBef>
              <a:defRPr sz="1300">
                <a:solidFill>
                  <a:srgbClr val="F1F5F9"/>
                </a:solidFill>
              </a:defRPr>
            </a:pPr>
            <a:r>
              <a:t>✔  Pre-Harvest Forecasting: Predicts crop yield months before harvest using planting data.</a:t>
            </a:r>
          </a:p>
          <a:p>
            <a:pPr>
              <a:spcBef>
                <a:spcPts val="1400"/>
              </a:spcBef>
              <a:defRPr sz="1300">
                <a:solidFill>
                  <a:srgbClr val="F1F5F9"/>
                </a:solidFill>
              </a:defRPr>
            </a:pPr>
            <a:r>
              <a:t>✔  Simple Everyday Inputs: Uses rainfall, fertilizer amount, land area, and crop type.</a:t>
            </a:r>
          </a:p>
          <a:p>
            <a:pPr>
              <a:spcBef>
                <a:spcPts val="1400"/>
              </a:spcBef>
              <a:defRPr sz="1300">
                <a:solidFill>
                  <a:srgbClr val="F1F5F9"/>
                </a:solidFill>
              </a:defRPr>
            </a:pPr>
            <a:r>
              <a:t>✔  Farmer-Friendly Output: Converts numbers into tonnes per acre and truckloads.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AGRIYIELD  •  SLIDE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Dataset &amp; Leakage Prevention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2103120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📊 19,689 Records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24 Years of authentic Indian agricultural census records (1997 to 2020) from the Ministry of Agriculture &amp; IMD.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4937760" cy="2103120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🌾 55 Crops &amp; 30 States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Wide coverage across cereals (Rice, Wheat), pulses (Gram, Moong), oilseeds, and heavy cash crops (Sugarcane).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4937760" cy="2103120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20624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🛡️ Zero Data Leakage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Strictly excluded 'Total Production' because Yield = Production / Area. If included, the AI would cheat by dividing instead of predicting.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023360"/>
            <a:ext cx="4937760" cy="2103120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20624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⏳ Real Future Testing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Trained on past years (1997–2015) and tested on unseen future years (2016–2020) to guarantee true reliability.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AGRIYIELD  •  SLIDE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Machine Learning Model Selection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628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286000"/>
                <a:gridCol w="2286000"/>
                <a:gridCol w="2499055"/>
              </a:tblGrid>
              <a:tr h="49377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Algorithm Tested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Cross-Validation R²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Test Accuracy (R²)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1. Linear Regression (Ridge)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57.8%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59.6%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Underfits (Poor for Biology)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2. Decision Tree Regressor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91.2%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92.4%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Good Baseline Tree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3. Gradient Boosting Regressor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93.1%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94.1%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High Accuracy</a:t>
                      </a:r>
                    </a:p>
                  </a:txBody>
                  <a:tcPr>
                    <a:solidFill>
                      <a:srgbClr val="18223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4. Random Forest Regressor 🏆</a:t>
                      </a:r>
                    </a:p>
                  </a:txBody>
                  <a:tcPr>
                    <a:solidFill>
                      <a:srgbClr val="10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95.9%</a:t>
                      </a:r>
                    </a:p>
                  </a:txBody>
                  <a:tcPr>
                    <a:solidFill>
                      <a:srgbClr val="10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96.8%</a:t>
                      </a:r>
                    </a:p>
                  </a:txBody>
                  <a:tcPr>
                    <a:solidFill>
                      <a:srgbClr val="10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CHAMPION MODEL</a:t>
                      </a:r>
                    </a:p>
                  </a:txBody>
                  <a:tcPr>
                    <a:solidFill>
                      <a:srgbClr val="104E3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389120"/>
            <a:ext cx="10362895" cy="1645920"/>
          </a:xfrm>
          <a:prstGeom prst="roundRect">
            <a:avLst/>
          </a:prstGeom>
          <a:solidFill>
            <a:srgbClr val="18223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480560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🎯 WHY RANDOM FOREST WON (96.8% ACCURACY):</a:t>
            </a:r>
          </a:p>
          <a:p>
            <a:pPr>
              <a:spcBef>
                <a:spcPts val="400"/>
              </a:spcBef>
              <a:defRPr sz="1150">
                <a:solidFill>
                  <a:srgbClr val="F1F5F9"/>
                </a:solidFill>
              </a:defRPr>
            </a:pPr>
            <a:r>
              <a:t>✔  Nature is not a straight line: Doubling rain or fertilizer does NOT double crop output.</a:t>
            </a:r>
          </a:p>
          <a:p>
            <a:pPr>
              <a:spcBef>
                <a:spcPts val="400"/>
              </a:spcBef>
              <a:defRPr sz="1150">
                <a:solidFill>
                  <a:srgbClr val="F1F5F9"/>
                </a:solidFill>
              </a:defRPr>
            </a:pPr>
            <a:r>
              <a:t>✔  Random Forest uses 120 decision trees to capture real-world saturating thresholds.</a:t>
            </a:r>
          </a:p>
          <a:p>
            <a:pPr>
              <a:spcBef>
                <a:spcPts val="400"/>
              </a:spcBef>
              <a:defRPr sz="1150">
                <a:solidFill>
                  <a:srgbClr val="F1F5F9"/>
                </a:solidFill>
              </a:defRPr>
            </a:pPr>
            <a:r>
              <a:t>✔  Combined with a log-transform to ensure predictions never return negative yield numbers.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AGRIYIELD  •  SLIDE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 Key Insights Discovered from the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91840" cy="4389120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1. CROP GENETICS DECIDE YIELD</a:t>
            </a:r>
          </a:p>
          <a:p>
            <a:pPr>
              <a:spcBef>
                <a:spcPts val="1400"/>
              </a:spcBef>
              <a:defRPr sz="1200">
                <a:solidFill>
                  <a:srgbClr val="F1F5F9"/>
                </a:solidFill>
              </a:defRPr>
            </a:pPr>
            <a:r>
              <a:t>Accounts for 71.8% of prediction importance.</a:t>
            </a:r>
            <a:br/>
            <a:br/>
            <a:r>
              <a:t>Sugarcane naturally yields ~52 tonnes/ha, whereas Wheat and Rice yield 2–4 tonnes/ha.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3291840" cy="4389120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FERTILIZER PARADOX</a:t>
            </a:r>
          </a:p>
          <a:p>
            <a:pPr>
              <a:spcBef>
                <a:spcPts val="1400"/>
              </a:spcBef>
              <a:defRPr sz="1200">
                <a:solidFill>
                  <a:srgbClr val="F1F5F9"/>
                </a:solidFill>
              </a:defRPr>
            </a:pPr>
            <a:r>
              <a:t>Fertilizer boosts cash crops (+0.17 for Sugarcane).</a:t>
            </a:r>
            <a:br/>
            <a:br/>
            <a:r>
              <a:t>BUT too much fertilizer harms pulses (Dal/Moong) because pulses make their own nitrogen!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8223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3. RAINFALL LIMIT (2,000 mm)</a:t>
            </a:r>
          </a:p>
          <a:p>
            <a:pPr>
              <a:spcBef>
                <a:spcPts val="1400"/>
              </a:spcBef>
              <a:defRPr sz="1200">
                <a:solidFill>
                  <a:srgbClr val="F1F5F9"/>
                </a:solidFill>
              </a:defRPr>
            </a:pPr>
            <a:r>
              <a:t>Rain helps crops up to ~2,000 mm per year.</a:t>
            </a:r>
            <a:br/>
            <a:br/>
            <a:r>
              <a:t>Rain beyond 2,000 mm causes waterlogging and fungal disease, capping maximum crop yield.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AGRIYIELD  •  SLIDE 6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Web Dashboard &amp; Project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4389120"/>
          </a:xfrm>
          <a:prstGeom prst="roundRect">
            <a:avLst/>
          </a:prstGeom>
          <a:solidFill>
            <a:srgbClr val="18223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💻 TECHNOLOGY STACK</a:t>
            </a:r>
          </a:p>
          <a:p>
            <a:pPr>
              <a:spcBef>
                <a:spcPts val="900"/>
              </a:spcBef>
              <a:defRPr sz="1200">
                <a:solidFill>
                  <a:srgbClr val="F1F5F9"/>
                </a:solidFill>
              </a:defRPr>
            </a:pPr>
            <a:r>
              <a:t>✔  Python: Core programming language.</a:t>
            </a:r>
          </a:p>
          <a:p>
            <a:pPr>
              <a:spcBef>
                <a:spcPts val="900"/>
              </a:spcBef>
              <a:defRPr sz="1200">
                <a:solidFill>
                  <a:srgbClr val="F1F5F9"/>
                </a:solidFill>
              </a:defRPr>
            </a:pPr>
            <a:r>
              <a:t>✔  Pandas &amp; NumPy: Data processing &amp; cleaning.</a:t>
            </a:r>
          </a:p>
          <a:p>
            <a:pPr>
              <a:spcBef>
                <a:spcPts val="900"/>
              </a:spcBef>
              <a:defRPr sz="1200">
                <a:solidFill>
                  <a:srgbClr val="F1F5F9"/>
                </a:solidFill>
              </a:defRPr>
            </a:pPr>
            <a:r>
              <a:t>✔  Scikit-Learn: Random Forest machine learning model.</a:t>
            </a:r>
          </a:p>
          <a:p>
            <a:pPr>
              <a:spcBef>
                <a:spcPts val="900"/>
              </a:spcBef>
              <a:defRPr sz="1200">
                <a:solidFill>
                  <a:srgbClr val="F1F5F9"/>
                </a:solidFill>
              </a:defRPr>
            </a:pPr>
            <a:r>
              <a:t>✔  Streamlit: Interactive presentation web dashboard.</a:t>
            </a:r>
          </a:p>
          <a:p>
            <a:pPr>
              <a:spcBef>
                <a:spcPts val="900"/>
              </a:spcBef>
              <a:defRPr sz="1200">
                <a:solidFill>
                  <a:srgbClr val="F1F5F9"/>
                </a:solidFill>
              </a:defRPr>
            </a:pPr>
            <a:r>
              <a:t>✔  Plotly: Interactive comparison charts &amp; trends.</a:t>
            </a:r>
          </a:p>
          <a:p>
            <a:pPr>
              <a:spcBef>
                <a:spcPts val="900"/>
              </a:spcBef>
              <a:defRPr sz="1200">
                <a:solidFill>
                  <a:srgbClr val="F1F5F9"/>
                </a:solidFill>
              </a:defRPr>
            </a:pPr>
            <a:r>
              <a:t>✔  GitHub &amp; Streamlit Cloud: Live 24/7 global hosting.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4937760" cy="4389120"/>
          </a:xfrm>
          <a:prstGeom prst="roundRect">
            <a:avLst/>
          </a:prstGeom>
          <a:solidFill>
            <a:srgbClr val="18223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🌾 SIMPLE OUTPUT FORMAT</a:t>
            </a:r>
          </a:p>
          <a:p>
            <a:pPr>
              <a:spcBef>
                <a:spcPts val="1100"/>
              </a:spcBef>
              <a:defRPr sz="1200">
                <a:solidFill>
                  <a:srgbClr val="F1F5F9"/>
                </a:solidFill>
              </a:defRPr>
            </a:pPr>
            <a:r>
              <a:t>✔  Yield per Hectare: (e.g. 4.80 tonnes/ha).</a:t>
            </a:r>
          </a:p>
          <a:p>
            <a:pPr>
              <a:spcBef>
                <a:spcPts val="1100"/>
              </a:spcBef>
              <a:defRPr sz="1200">
                <a:solidFill>
                  <a:srgbClr val="F1F5F9"/>
                </a:solidFill>
              </a:defRPr>
            </a:pPr>
            <a:r>
              <a:t>✔  Yield per Acre: (e.g. ~1.94 tonnes/acre) for local farmers.</a:t>
            </a:r>
          </a:p>
          <a:p>
            <a:pPr>
              <a:spcBef>
                <a:spcPts val="1100"/>
              </a:spcBef>
              <a:defRPr sz="1200">
                <a:solidFill>
                  <a:srgbClr val="F1F5F9"/>
                </a:solidFill>
              </a:defRPr>
            </a:pPr>
            <a:r>
              <a:t>✔  Total Commercial Output: Total weight for the entire farm.</a:t>
            </a:r>
          </a:p>
          <a:p>
            <a:pPr>
              <a:spcBef>
                <a:spcPts val="1100"/>
              </a:spcBef>
              <a:defRPr sz="1200">
                <a:solidFill>
                  <a:srgbClr val="F1F5F9"/>
                </a:solidFill>
              </a:defRPr>
            </a:pPr>
            <a:r>
              <a:t>✔  Commercial Truckloads: (e.g. ≈ 48 ten-tonne trucks) so farmers can easily plan transport.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