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31520"/>
            <a:ext cx="10545775" cy="10972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5F46"/>
                </a:solidFill>
              </a:defRPr>
            </a:pPr>
            <a:r>
              <a:t>AgriYield: Crop Yield Prediction System</a:t>
            </a:r>
          </a:p>
          <a:p>
            <a:pPr>
              <a:spcBef>
                <a:spcPts val="600"/>
              </a:spcBef>
              <a:defRPr sz="1800">
                <a:solidFill>
                  <a:srgbClr val="334155"/>
                </a:solidFill>
              </a:defRPr>
            </a:pPr>
            <a:r>
              <a:t>Data Science-Based Agricultural Analysis &amp; Pre-Harvest Machine Learning Forecasting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5486400" cy="3291840"/>
          </a:xfrm>
          <a:prstGeom prst="roundRect">
            <a:avLst/>
          </a:prstGeom>
          <a:solidFill>
            <a:srgbClr val="F0FDF4"/>
          </a:solidFill>
          <a:ln w="317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15468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PROJECT PRESENTED BY</a:t>
            </a:r>
          </a:p>
          <a:p>
            <a:pPr>
              <a:spcBef>
                <a:spcPts val="800"/>
              </a:spcBef>
              <a:defRPr sz="3400" b="1">
                <a:solidFill>
                  <a:srgbClr val="0F172A"/>
                </a:solidFill>
              </a:defRPr>
            </a:pPr>
            <a:r>
              <a:t>S. SANDHIYA</a:t>
            </a:r>
          </a:p>
          <a:p>
            <a:pPr>
              <a:spcBef>
                <a:spcPts val="800"/>
              </a:spcBef>
              <a:defRPr sz="2000" b="1">
                <a:solidFill>
                  <a:srgbClr val="0284C7"/>
                </a:solidFill>
              </a:defRPr>
            </a:pPr>
            <a:r>
              <a:t>ROLL NO : 24VNM034</a:t>
            </a:r>
          </a:p>
          <a:p>
            <a:pPr>
              <a:spcBef>
                <a:spcPts val="800"/>
              </a:spcBef>
              <a:defRPr sz="1400">
                <a:solidFill>
                  <a:srgbClr val="334155"/>
                </a:solidFill>
              </a:defRPr>
            </a:pPr>
            <a:r>
              <a:t>Data Science &amp; Machine Learning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2926080"/>
            <a:ext cx="4754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3154680"/>
            <a:ext cx="4206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KEY PROJECT HIGHLIGHTS</a:t>
            </a:r>
          </a:p>
          <a:p>
            <a:pPr>
              <a:spcBef>
                <a:spcPts val="800"/>
              </a:spcBef>
              <a:defRPr sz="1450" b="1">
                <a:solidFill>
                  <a:srgbClr val="0F172A"/>
                </a:solidFill>
              </a:defRPr>
            </a:pPr>
            <a:r>
              <a:t>•  19,689 Real Census Records (1997–2020)</a:t>
            </a:r>
          </a:p>
          <a:p>
            <a:pPr>
              <a:spcBef>
                <a:spcPts val="800"/>
              </a:spcBef>
              <a:defRPr sz="1450" b="1">
                <a:solidFill>
                  <a:srgbClr val="0F172A"/>
                </a:solidFill>
              </a:defRPr>
            </a:pPr>
            <a:r>
              <a:t>•  55 Crops &amp; 30 Indian States Nationwide</a:t>
            </a:r>
          </a:p>
          <a:p>
            <a:pPr>
              <a:spcBef>
                <a:spcPts val="800"/>
              </a:spcBef>
              <a:defRPr sz="1450" b="1">
                <a:solidFill>
                  <a:srgbClr val="0F172A"/>
                </a:solidFill>
              </a:defRPr>
            </a:pPr>
            <a:r>
              <a:t>•  Champion Model: Random Forest Regressor</a:t>
            </a:r>
          </a:p>
          <a:p>
            <a:pPr>
              <a:spcBef>
                <a:spcPts val="800"/>
              </a:spcBef>
              <a:defRPr sz="1450" b="1">
                <a:solidFill>
                  <a:srgbClr val="0F172A"/>
                </a:solidFill>
              </a:defRPr>
            </a:pPr>
            <a:r>
              <a:t>•  Predictive Accuracy: 96.8% (R² Score)</a:t>
            </a:r>
          </a:p>
          <a:p>
            <a:pPr>
              <a:spcBef>
                <a:spcPts val="800"/>
              </a:spcBef>
              <a:defRPr sz="1450" b="1">
                <a:solidFill>
                  <a:srgbClr val="0F172A"/>
                </a:solidFill>
              </a:defRPr>
            </a:pPr>
            <a:r>
              <a:t>•  Zero Data Leakage: Genuine Pre-Harvest 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AGRIYIELD  •  SLIDE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The Real-World Problem &amp; Our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120640" cy="484632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C2626"/>
                </a:solidFill>
              </a:defRPr>
            </a:pPr>
            <a:r>
              <a:t>THE PROBLEM TODAY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• Post-Harvest Delay: Yield is only measured after harvesting is completely finished through slow manual crop-cutting.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• Too Late for Action: When food shortages occur, prices have already spiked and inflation has hurt citizens.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• No Advance Planning: Farmers and transport operators cannot plan trucks, storage, or sales months in advance.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8463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THE AGRIYIELD SOLUTION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• Pre-Harvest AI Forecasting: Predicts crop harvest months in advance using data available during planting season.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• Practical Input Factors: Uses annual rainfall, fertilizer amount, pesticide, land area, and crop genetics.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• Farmer-Friendly Outputs: Translates mathematical yield into practical tonnes per acre and commercial truckload counts.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AGRIYIELD  •  SLIDE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Dataset Scope &amp; Zero Data Leakage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12064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19,689 Records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24 Years of official Indian farm census records (1997 to 2020) collected from the Ministry of Agriculture &amp; IMD.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284C7"/>
                </a:solidFill>
              </a:defRPr>
            </a:pPr>
            <a:r>
              <a:t>55 Crops &amp; 30 States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Wide coverage across food grains (Rice, Wheat), pulses (Gram, Moong), oilseeds, and heavy cash crops (Sugarcane).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512064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11480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Zero Data Leakage Protocol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Strictly excluded 'Total Production' because Yield = Production / Area. If included, the AI would cheat by dividing instead of predicting.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11480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Real Future Holdout Testing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Trained on historical years (1997–2015, 15,404 rows) and tested on unseen future years (2016–2020, 4,285 rows).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AGRIYIELD  •  SLIDE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Machine Learning Model Selection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63040"/>
          <a:ext cx="1054577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  <a:gridCol w="2499055"/>
              </a:tblGrid>
              <a:tr h="53035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Algorithm Tested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5-Fold CV R²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Holdout Test R²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Status &amp; Verdict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1. Linear Regression (Ridge)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57.8%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59.6%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Underfits (Poor for Biology)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2. 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92.4%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Good Baseline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3. Gradient Boosting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93.1%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0F172A"/>
                          </a:solidFill>
                        </a:defRPr>
                      </a:pPr>
                      <a:r>
                        <a:t>Strong Non-Linear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65F46"/>
                          </a:solidFill>
                        </a:defRPr>
                      </a:pPr>
                      <a:r>
                        <a:t>4. Random Forest Regressor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65F46"/>
                          </a:solidFill>
                        </a:defRPr>
                      </a:pPr>
                      <a:r>
                        <a:t>95.9%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65F46"/>
                          </a:solidFill>
                        </a:defRPr>
                      </a:pPr>
                      <a:r>
                        <a:t>96.8%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65F46"/>
                          </a:solidFill>
                        </a:defRPr>
                      </a:pPr>
                      <a:r>
                        <a:t>CHAMPION MODEL (Winner)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389120"/>
            <a:ext cx="10545775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2628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5F46"/>
                </a:solidFill>
              </a:defRPr>
            </a:pPr>
            <a:r>
              <a:t>WHY RANDOM FOREST WON (96.8% ACCURACY):</a:t>
            </a:r>
          </a:p>
          <a:p>
            <a:pPr>
              <a:spcBef>
                <a:spcPts val="600"/>
              </a:spcBef>
              <a:defRPr sz="1500">
                <a:solidFill>
                  <a:srgbClr val="0F172A"/>
                </a:solidFill>
              </a:defRPr>
            </a:pPr>
            <a:r>
              <a:t>•  Nature is not a straight line: Doubling rain or fertilizer does NOT double crop output.</a:t>
            </a:r>
          </a:p>
          <a:p>
            <a:pPr>
              <a:spcBef>
                <a:spcPts val="600"/>
              </a:spcBef>
              <a:defRPr sz="1500">
                <a:solidFill>
                  <a:srgbClr val="0F172A"/>
                </a:solidFill>
              </a:defRPr>
            </a:pPr>
            <a:r>
              <a:t>•  Random Forest uses 120 decision trees to capture real-world saturating biological limits.</a:t>
            </a:r>
          </a:p>
          <a:p>
            <a:pPr>
              <a:spcBef>
                <a:spcPts val="600"/>
              </a:spcBef>
              <a:defRPr sz="1500">
                <a:solidFill>
                  <a:srgbClr val="0F172A"/>
                </a:solidFill>
              </a:defRPr>
            </a:pPr>
            <a:r>
              <a:t>•  Combined with a target log-transform (ln(1+y)) to guarantee positive yield predictions.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AGRIYIELD  •  SLIDE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3 Key Insights Discovered from the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3383280" cy="4846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73736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59669"/>
                </a:solidFill>
              </a:defRPr>
            </a:pPr>
            <a:r>
              <a:t>1. CROP GENETICS DECIDE YIELD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Accounts for 71.8% of prediction importance.</a:t>
            </a:r>
            <a:br/>
            <a:br/>
            <a:r>
              <a:t>Sugarcane naturally yields ~52 tonnes/ha, whereas Wheat and Rice yield 2–4 tonnes/ha.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73736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284C7"/>
                </a:solidFill>
              </a:defRPr>
            </a:pPr>
            <a:r>
              <a:t>2. THE FERTILIZER PARADOX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Fertilizer boosts cash crops (+0.17 for Sugarcane).</a:t>
            </a:r>
            <a:br/>
            <a:br/>
            <a:r>
              <a:t>BUT excess chemical fertilizer hurts pulses (Moong/Gram) because pulses naturally fix nitrogen!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63040"/>
            <a:ext cx="3383280" cy="4846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73736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97706"/>
                </a:solidFill>
              </a:defRPr>
            </a:pPr>
            <a:r>
              <a:t>3. RAINFALL LIMIT (2,000 mm)</a:t>
            </a:r>
          </a:p>
          <a:p>
            <a:pPr>
              <a:spcBef>
                <a:spcPts val="1600"/>
              </a:spcBef>
              <a:defRPr sz="1550">
                <a:solidFill>
                  <a:srgbClr val="0F172A"/>
                </a:solidFill>
              </a:defRPr>
            </a:pPr>
            <a:r>
              <a:t>Rain boosts crop yield up to ~2,000 mm per year.</a:t>
            </a:r>
            <a:br/>
            <a:br/>
            <a:r>
              <a:t>Beyond 2,000 mm, waterlogging, root rot, and fungal disease cap maximum crop productivity.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AGRIYIELD  •  SLIDE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Web Dashboard &amp; Implementation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120640" cy="4846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TECHNOLOGY STACK</a:t>
            </a:r>
          </a:p>
          <a:p>
            <a:pPr>
              <a:spcBef>
                <a:spcPts val="1200"/>
              </a:spcBef>
              <a:defRPr sz="1500">
                <a:solidFill>
                  <a:srgbClr val="0F172A"/>
                </a:solidFill>
              </a:defRPr>
            </a:pPr>
            <a:r>
              <a:t>• Python: Core programming language for data science.</a:t>
            </a:r>
          </a:p>
          <a:p>
            <a:pPr>
              <a:spcBef>
                <a:spcPts val="1200"/>
              </a:spcBef>
              <a:defRPr sz="1500">
                <a:solidFill>
                  <a:srgbClr val="0F172A"/>
                </a:solidFill>
              </a:defRPr>
            </a:pPr>
            <a:r>
              <a:t>• Pandas &amp; NumPy: Data cleaning and preprocessing.</a:t>
            </a:r>
          </a:p>
          <a:p>
            <a:pPr>
              <a:spcBef>
                <a:spcPts val="1200"/>
              </a:spcBef>
              <a:defRPr sz="1500">
                <a:solidFill>
                  <a:srgbClr val="0F172A"/>
                </a:solidFill>
              </a:defRPr>
            </a:pPr>
            <a:r>
              <a:t>• Scikit-Learn: Random Forest machine learning model.</a:t>
            </a:r>
          </a:p>
          <a:p>
            <a:pPr>
              <a:spcBef>
                <a:spcPts val="1200"/>
              </a:spcBef>
              <a:defRPr sz="1500">
                <a:solidFill>
                  <a:srgbClr val="0F172A"/>
                </a:solidFill>
              </a:defRPr>
            </a:pPr>
            <a:r>
              <a:t>• Streamlit: Interactive presentation web dashboard.</a:t>
            </a:r>
          </a:p>
          <a:p>
            <a:pPr>
              <a:spcBef>
                <a:spcPts val="1200"/>
              </a:spcBef>
              <a:defRPr sz="1500">
                <a:solidFill>
                  <a:srgbClr val="0F172A"/>
                </a:solidFill>
              </a:defRPr>
            </a:pPr>
            <a:r>
              <a:t>• Plotly: Interactive charts, trends, and comparisons.</a:t>
            </a:r>
          </a:p>
          <a:p>
            <a:pPr>
              <a:spcBef>
                <a:spcPts val="1200"/>
              </a:spcBef>
              <a:defRPr sz="1500">
                <a:solidFill>
                  <a:srgbClr val="0F172A"/>
                </a:solidFill>
              </a:defRPr>
            </a:pPr>
            <a:r>
              <a:t>• GitHub &amp; Streamlit Cloud: 24/7 online hosting.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846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284C7"/>
                </a:solidFill>
              </a:defRPr>
            </a:pPr>
            <a:r>
              <a:t>SIMPLE OUTPUT FORMAT</a:t>
            </a:r>
          </a:p>
          <a:p>
            <a:pPr>
              <a:spcBef>
                <a:spcPts val="1400"/>
              </a:spcBef>
              <a:defRPr sz="1500">
                <a:solidFill>
                  <a:srgbClr val="0F172A"/>
                </a:solidFill>
              </a:defRPr>
            </a:pPr>
            <a:r>
              <a:t>• Yield per Hectare: Scientific standard unit (e.g. 4.80 t/ha).</a:t>
            </a:r>
          </a:p>
          <a:p>
            <a:pPr>
              <a:spcBef>
                <a:spcPts val="1400"/>
              </a:spcBef>
              <a:defRPr sz="1500">
                <a:solidFill>
                  <a:srgbClr val="0F172A"/>
                </a:solidFill>
              </a:defRPr>
            </a:pPr>
            <a:r>
              <a:t>• Yield per Acre: Practical measure for local farmers (e.g. ~1.94 t/acre).</a:t>
            </a:r>
          </a:p>
          <a:p>
            <a:pPr>
              <a:spcBef>
                <a:spcPts val="1400"/>
              </a:spcBef>
              <a:defRPr sz="1500">
                <a:solidFill>
                  <a:srgbClr val="0F172A"/>
                </a:solidFill>
              </a:defRPr>
            </a:pPr>
            <a:r>
              <a:t>• Total Farm Harvest: Total gross tonnage expected from the entire field.</a:t>
            </a:r>
          </a:p>
          <a:p>
            <a:pPr>
              <a:spcBef>
                <a:spcPts val="1400"/>
              </a:spcBef>
              <a:defRPr sz="1500">
                <a:solidFill>
                  <a:srgbClr val="0F172A"/>
                </a:solidFill>
              </a:defRPr>
            </a:pPr>
            <a:r>
              <a:t>• Commercial Truckloads: Estimated count of 10-tonne trucks (e.g. ≈ 48 trucks) so transport is planned easily.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